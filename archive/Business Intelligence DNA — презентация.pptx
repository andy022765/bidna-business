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20624"/>
            <a:ext cx="91440" cy="146304"/>
          </a:xfrm>
          <a:prstGeom prst="roundRect">
            <a:avLst>
              <a:gd name="adj" fmla="val 20000"/>
            </a:avLst>
          </a:prstGeom>
          <a:solidFill>
            <a:srgbClr val="7D7F9E"/>
          </a:solidFill>
          <a:ln/>
        </p:spPr>
      </p:sp>
      <p:sp>
        <p:nvSpPr>
          <p:cNvPr id="4" name="Shape 1"/>
          <p:cNvSpPr/>
          <p:nvPr/>
        </p:nvSpPr>
        <p:spPr>
          <a:xfrm>
            <a:off x="580644" y="329184"/>
            <a:ext cx="91440" cy="237744"/>
          </a:xfrm>
          <a:prstGeom prst="roundRect">
            <a:avLst>
              <a:gd name="adj" fmla="val 20000"/>
            </a:avLst>
          </a:prstGeom>
          <a:solidFill>
            <a:srgbClr val="9698B8"/>
          </a:solidFill>
          <a:ln/>
        </p:spPr>
      </p:sp>
      <p:sp>
        <p:nvSpPr>
          <p:cNvPr id="5" name="Shape 2"/>
          <p:cNvSpPr/>
          <p:nvPr/>
        </p:nvSpPr>
        <p:spPr>
          <a:xfrm>
            <a:off x="704088" y="237744"/>
            <a:ext cx="91440" cy="329184"/>
          </a:xfrm>
          <a:prstGeom prst="roundRect">
            <a:avLst>
              <a:gd name="adj" fmla="val 20000"/>
            </a:avLst>
          </a:prstGeom>
          <a:solidFill>
            <a:srgbClr val="C69749"/>
          </a:solidFill>
          <a:ln/>
        </p:spPr>
      </p:sp>
      <p:sp>
        <p:nvSpPr>
          <p:cNvPr id="6" name="Shape 3"/>
          <p:cNvSpPr/>
          <p:nvPr/>
        </p:nvSpPr>
        <p:spPr>
          <a:xfrm>
            <a:off x="827532" y="146304"/>
            <a:ext cx="91440" cy="420624"/>
          </a:xfrm>
          <a:prstGeom prst="roundRect">
            <a:avLst>
              <a:gd name="adj" fmla="val 20000"/>
            </a:avLst>
          </a:prstGeom>
          <a:solidFill>
            <a:srgbClr val="E2B872"/>
          </a:solidFill>
          <a:ln/>
        </p:spPr>
      </p:sp>
      <p:sp>
        <p:nvSpPr>
          <p:cNvPr id="7" name="Text 4"/>
          <p:cNvSpPr/>
          <p:nvPr/>
        </p:nvSpPr>
        <p:spPr>
          <a:xfrm>
            <a:off x="987552" y="2926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</a:t>
            </a:r>
            <a:pPr indent="0" marL="0">
              <a:buNone/>
            </a:pPr>
            <a:r>
              <a:rPr lang="en-US" sz="1300" b="1" dirty="0">
                <a:solidFill>
                  <a:srgbClr val="C69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БИЗНЕСА И ЭКСПЕРТОВ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265176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Ваш бизнес лучше,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чем о нём знает рынок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2960" y="46177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9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10 рабочих дней собираем систему, которая объясняет ценность вашего бизнеса за вас: 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ваше отличие, ваш клиент, ваше предложение и сайт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9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без того, чтобы вы становились блогером.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DNA  ·  Андрей &amp; Маша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774375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3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ЗНАКОМО?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Дело не в том, что вы плохой специалист.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Дело в том, что вас не видно.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3401568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E6E3DC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2C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926080"/>
            <a:ext cx="658368" cy="658368"/>
          </a:xfrm>
          <a:prstGeom prst="ellipse">
            <a:avLst/>
          </a:prstGeom>
          <a:solidFill>
            <a:srgbClr val="E2B87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759" y="3103839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749040"/>
            <a:ext cx="2761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i="1" dirty="0">
                <a:solidFill>
                  <a:srgbClr val="17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«Мне нечего было прислать»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143000" y="4617720"/>
            <a:ext cx="2761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1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Вас рекомендуют — а на «пришлите портфолио» повисает пауза.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98848" y="2606040"/>
            <a:ext cx="3401568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E6E3DC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2C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18888" y="2926080"/>
            <a:ext cx="658368" cy="658368"/>
          </a:xfrm>
          <a:prstGeom prst="ellipse">
            <a:avLst/>
          </a:prstGeom>
          <a:solidFill>
            <a:srgbClr val="E2B87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647" y="3103839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18888" y="3749040"/>
            <a:ext cx="2761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i="1" dirty="0">
                <a:solidFill>
                  <a:srgbClr val="17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«Не назову отличие одной фразой»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818888" y="4617720"/>
            <a:ext cx="2761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1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вопрос «чем вы лучше?» вы отвечаете, как и все.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74736" y="2606040"/>
            <a:ext cx="3401568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E6E3DC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2C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94776" y="2926080"/>
            <a:ext cx="658368" cy="658368"/>
          </a:xfrm>
          <a:prstGeom prst="ellipse">
            <a:avLst/>
          </a:prstGeom>
          <a:solidFill>
            <a:srgbClr val="E2B87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2535" y="3103839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94776" y="3749040"/>
            <a:ext cx="2761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i="1" dirty="0">
                <a:solidFill>
                  <a:srgbClr val="17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«У меня не система — везение»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494776" y="4617720"/>
            <a:ext cx="2761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1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Пустой месяц — и непонятно, откуда придёт клиент.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0774375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77240" y="786384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 не реклама, не SMM и не курс.</a:t>
            </a:r>
            <a:endParaRPr lang="en-US" sz="27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 делаем ваше мастерство видимым.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2960" y="2148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9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Исследуем рынок, конкурентов и клиентов — и превращаем это в позиционирование и готовые активы. Данные — это не интеллект. Мы отдаём решение, а не 150 страниц.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822960" y="306324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1A1B36"/>
          </a:solidFill>
          <a:ln w="12700">
            <a:solidFill>
              <a:srgbClr val="2C2D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24128" y="3506724"/>
            <a:ext cx="530352" cy="530352"/>
          </a:xfrm>
          <a:prstGeom prst="ellipse">
            <a:avLst/>
          </a:prstGeom>
          <a:solidFill>
            <a:srgbClr val="C69749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323" y="3649919"/>
            <a:ext cx="243962" cy="2439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324612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DNA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691640" y="3721608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Ваше отличие в одном предложении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498848" y="306324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1A1B36"/>
          </a:solidFill>
          <a:ln w="12700">
            <a:solidFill>
              <a:srgbClr val="2C2D5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700016" y="3506724"/>
            <a:ext cx="530352" cy="530352"/>
          </a:xfrm>
          <a:prstGeom prst="ellipse">
            <a:avLst/>
          </a:prstGeom>
          <a:solidFill>
            <a:srgbClr val="C69749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211" y="3649919"/>
            <a:ext cx="243962" cy="2439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67528" y="324612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Slam Offer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367528" y="3721608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Предложение, от которого сложно отказаться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174736" y="306324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1A1B36"/>
          </a:solidFill>
          <a:ln w="12700">
            <a:solidFill>
              <a:srgbClr val="2C2D5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75904" y="3506724"/>
            <a:ext cx="530352" cy="530352"/>
          </a:xfrm>
          <a:prstGeom prst="ellipse">
            <a:avLst/>
          </a:prstGeom>
          <a:solidFill>
            <a:srgbClr val="C69749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9099" y="3649919"/>
            <a:ext cx="243962" cy="24396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43416" y="324612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Intelligence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043416" y="3721608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Портрет клиента и конкурентов его словами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822960" y="475488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1A1B36"/>
          </a:solidFill>
          <a:ln w="12700">
            <a:solidFill>
              <a:srgbClr val="2C2D5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024128" y="5198364"/>
            <a:ext cx="530352" cy="530352"/>
          </a:xfrm>
          <a:prstGeom prst="ellipse">
            <a:avLst/>
          </a:prstGeom>
          <a:solidFill>
            <a:srgbClr val="C69749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323" y="5341559"/>
            <a:ext cx="243962" cy="24396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91640" y="493776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691640" y="5413248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Продающая структура, а не картинка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498848" y="475488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1A1B36"/>
          </a:solidFill>
          <a:ln w="12700">
            <a:solidFill>
              <a:srgbClr val="2C2D55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700016" y="5198364"/>
            <a:ext cx="530352" cy="530352"/>
          </a:xfrm>
          <a:prstGeom prst="ellipse">
            <a:avLst/>
          </a:prstGeom>
          <a:solidFill>
            <a:srgbClr val="C69749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3211" y="5341559"/>
            <a:ext cx="243962" cy="24396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67528" y="493776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Business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5367528" y="5413248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Живая система вместо PDF-отчёта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8174736" y="475488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C69749"/>
          </a:solidFill>
          <a:ln/>
        </p:spPr>
      </p:sp>
      <p:sp>
        <p:nvSpPr>
          <p:cNvPr id="32" name="Text 24"/>
          <p:cNvSpPr/>
          <p:nvPr/>
        </p:nvSpPr>
        <p:spPr>
          <a:xfrm>
            <a:off x="8403336" y="4754880"/>
            <a:ext cx="2944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F1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Decision Research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F1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Continuous Intelligence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10774375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3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шага. Ваше участие — одно интервью.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6E3DC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C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029968"/>
            <a:ext cx="566928" cy="566928"/>
          </a:xfrm>
          <a:prstGeom prst="ellipse">
            <a:avLst/>
          </a:prstGeom>
          <a:solidFill>
            <a:srgbClr val="0F1022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2029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8992" y="274320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(диагноз)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8992" y="3246120"/>
            <a:ext cx="20299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1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Малый вход: почему вас выбирают не всегда и где главный рычаг. Засчитывается в ядро.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84448" y="228600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6E3DC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C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0" y="2029968"/>
            <a:ext cx="566928" cy="566928"/>
          </a:xfrm>
          <a:prstGeom prst="ellipse">
            <a:avLst/>
          </a:prstGeom>
          <a:solidFill>
            <a:srgbClr val="0F1022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2029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40480" y="274320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Интервью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3246120"/>
            <a:ext cx="20299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1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раз распаковываем вашу экспертизу или бизнес. Дальше работаем мы.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45936" y="228600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6E3DC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C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01968" y="2029968"/>
            <a:ext cx="566928" cy="566928"/>
          </a:xfrm>
          <a:prstGeom prst="ellipse">
            <a:avLst/>
          </a:prstGeom>
          <a:solidFill>
            <a:srgbClr val="0F1022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01968" y="2029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01968" y="274320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01968" y="3246120"/>
            <a:ext cx="20299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1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ДНК бизнеса + разбор рынка и конкурентов + позиционирование + ваш оффер.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07424" y="228600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6E3DC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C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63456" y="2029968"/>
            <a:ext cx="566928" cy="566928"/>
          </a:xfrm>
          <a:prstGeom prst="ellipse">
            <a:avLst/>
          </a:prstGeom>
          <a:solidFill>
            <a:srgbClr val="0F1022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63456" y="2029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63456" y="274320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63456" y="3246120"/>
            <a:ext cx="20299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1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+ «одна страница для рекомендателя» + Ask Your Business.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5897880"/>
            <a:ext cx="4480560" cy="566928"/>
          </a:xfrm>
          <a:prstGeom prst="roundRect">
            <a:avLst>
              <a:gd name="adj" fmla="val 50000"/>
            </a:avLst>
          </a:prstGeom>
          <a:solidFill>
            <a:srgbClr val="0F1022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8978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Всё — за </a:t>
            </a:r>
            <a:pPr algn="ctr" indent="0" marL="0">
              <a:buNone/>
            </a:pPr>
            <a:r>
              <a:rPr lang="en-US" sz="1350" b="1" dirty="0">
                <a:solidFill>
                  <a:srgbClr val="E2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рабочих дней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774375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3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КЕЙС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7498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7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Отличный специалист, которого рынок</a:t>
            </a:r>
            <a:endParaRPr lang="en-US" sz="25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7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мог разглядеть.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1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Бутиковая практика fractional CFO в США. 15+ лет в финансах, forensic-бэкграунд, двуязычная. Делает работу, которую мало кто может повторить — и всё равно почти невидима для рынка.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3063240"/>
            <a:ext cx="3337560" cy="2331720"/>
          </a:xfrm>
          <a:prstGeom prst="roundRect">
            <a:avLst>
              <a:gd name="adj" fmla="val 3137"/>
            </a:avLst>
          </a:prstGeom>
          <a:solidFill>
            <a:srgbClr val="FBF1F0"/>
          </a:solidFill>
          <a:ln w="12700">
            <a:solidFill>
              <a:srgbClr val="F0D6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2644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3630168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7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«Fractional CFO» — так себя называют тысячи. Сайт, который она сама называла «непонятным». После рекомендации — нечего прислать.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3063240"/>
            <a:ext cx="3337560" cy="2331720"/>
          </a:xfrm>
          <a:prstGeom prst="roundRect">
            <a:avLst>
              <a:gd name="adj" fmla="val 3137"/>
            </a:avLst>
          </a:prstGeom>
          <a:solidFill>
            <a:srgbClr val="EEF7F1"/>
          </a:solidFill>
          <a:ln w="12700">
            <a:solidFill>
              <a:srgbClr val="CFE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32644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3630168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7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Финансовое руководство для компаний, которые переросли инфраструктуру.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1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Восстановить → Контроль → Советовать, с которой не начинает никто.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306324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0F1022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3355848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E2B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200" dirty="0"/>
          </a:p>
        </p:txBody>
      </p:sp>
      <p:sp>
        <p:nvSpPr>
          <p:cNvPr id="13" name="Text 11"/>
          <p:cNvSpPr/>
          <p:nvPr/>
        </p:nvSpPr>
        <p:spPr>
          <a:xfrm>
            <a:off x="8138160" y="43616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рабочих дня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48920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A9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и детали клиента скрыты по договору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7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 не показываем график выручки. </a:t>
            </a:r>
            <a:pPr indent="0" marL="0">
              <a:buNone/>
            </a:pPr>
            <a:r>
              <a:rPr lang="en-US" sz="1450" i="1" dirty="0">
                <a:solidFill>
                  <a:srgbClr val="6161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 показываем, что реально легло на стол — за 3 дня.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774375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20624"/>
            <a:ext cx="91440" cy="146304"/>
          </a:xfrm>
          <a:prstGeom prst="roundRect">
            <a:avLst>
              <a:gd name="adj" fmla="val 20000"/>
            </a:avLst>
          </a:prstGeom>
          <a:solidFill>
            <a:srgbClr val="7D7F9E"/>
          </a:solidFill>
          <a:ln/>
        </p:spPr>
      </p:sp>
      <p:sp>
        <p:nvSpPr>
          <p:cNvPr id="4" name="Shape 1"/>
          <p:cNvSpPr/>
          <p:nvPr/>
        </p:nvSpPr>
        <p:spPr>
          <a:xfrm>
            <a:off x="580644" y="329184"/>
            <a:ext cx="91440" cy="237744"/>
          </a:xfrm>
          <a:prstGeom prst="roundRect">
            <a:avLst>
              <a:gd name="adj" fmla="val 20000"/>
            </a:avLst>
          </a:prstGeom>
          <a:solidFill>
            <a:srgbClr val="9698B8"/>
          </a:solidFill>
          <a:ln/>
        </p:spPr>
      </p:sp>
      <p:sp>
        <p:nvSpPr>
          <p:cNvPr id="5" name="Shape 2"/>
          <p:cNvSpPr/>
          <p:nvPr/>
        </p:nvSpPr>
        <p:spPr>
          <a:xfrm>
            <a:off x="704088" y="237744"/>
            <a:ext cx="91440" cy="329184"/>
          </a:xfrm>
          <a:prstGeom prst="roundRect">
            <a:avLst>
              <a:gd name="adj" fmla="val 20000"/>
            </a:avLst>
          </a:prstGeom>
          <a:solidFill>
            <a:srgbClr val="C69749"/>
          </a:solidFill>
          <a:ln/>
        </p:spPr>
      </p:sp>
      <p:sp>
        <p:nvSpPr>
          <p:cNvPr id="6" name="Shape 3"/>
          <p:cNvSpPr/>
          <p:nvPr/>
        </p:nvSpPr>
        <p:spPr>
          <a:xfrm>
            <a:off x="827532" y="146304"/>
            <a:ext cx="91440" cy="420624"/>
          </a:xfrm>
          <a:prstGeom prst="roundRect">
            <a:avLst>
              <a:gd name="adj" fmla="val 20000"/>
            </a:avLst>
          </a:prstGeom>
          <a:solidFill>
            <a:srgbClr val="E2B872"/>
          </a:solidFill>
          <a:ln/>
        </p:spPr>
      </p:sp>
      <p:sp>
        <p:nvSpPr>
          <p:cNvPr id="7" name="Text 4"/>
          <p:cNvSpPr/>
          <p:nvPr/>
        </p:nvSpPr>
        <p:spPr>
          <a:xfrm>
            <a:off x="987552" y="2926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</a:t>
            </a:r>
            <a:pPr indent="0" marL="0">
              <a:buNone/>
            </a:pPr>
            <a:r>
              <a:rPr lang="en-US" sz="1300" b="1" dirty="0">
                <a:solidFill>
                  <a:srgbClr val="C69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103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Начните с Audit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30175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C9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Малый вход, который засчитывается в ядро. Что бы вы ни решили — вы ничего не теряете.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886200"/>
            <a:ext cx="3063240" cy="658368"/>
          </a:xfrm>
          <a:prstGeom prst="roundRect">
            <a:avLst>
              <a:gd name="adj" fmla="val 16667"/>
            </a:avLst>
          </a:prstGeom>
          <a:solidFill>
            <a:srgbClr val="C69749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388620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Записаться на разговор →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2960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calendly.com/andywar777/30min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160520" y="3886200"/>
            <a:ext cx="2286000" cy="658368"/>
          </a:xfrm>
          <a:prstGeom prst="roundRect">
            <a:avLst>
              <a:gd name="adj" fmla="val 16667"/>
            </a:avLst>
          </a:prstGeom>
          <a:solidFill>
            <a:srgbClr val="1A1B36"/>
          </a:solidFill>
          <a:ln w="12700">
            <a:solidFill>
              <a:srgbClr val="2C2D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60520" y="38862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@business_int_dna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более 5 клиентов одновременно · Индивидуальная работа с каждым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774375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2026-08-20T22:22:04Z</dcterms:created>
  <dcterms:modified xsi:type="dcterms:W3CDTF">2026-08-20T22:22:04Z</dcterms:modified>
</cp:coreProperties>
</file>